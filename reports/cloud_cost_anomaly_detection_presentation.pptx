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3895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914400"/>
            <a:ext cx="57607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1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Wykrywanie anomalii</a:t>
            </a:r>
            <a:endParaRPr lang="en-US" sz="4100" dirty="0"/>
          </a:p>
          <a:p>
            <a:pPr marL="0" indent="0">
              <a:buNone/>
            </a:pPr>
            <a:r>
              <a:rPr lang="en-US" sz="41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 kosztach chmury</a:t>
            </a:r>
            <a:endParaRPr lang="en-US" sz="4100" dirty="0"/>
          </a:p>
        </p:txBody>
      </p:sp>
      <p:sp>
        <p:nvSpPr>
          <p:cNvPr id="3" name="Text 1"/>
          <p:cNvSpPr/>
          <p:nvPr/>
        </p:nvSpPr>
        <p:spPr>
          <a:xfrm>
            <a:off x="566928" y="22677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4C8FF"/>
                </a:solidFill>
              </a:rPr>
              <a:t>z wykorzystaniem uczenia maszynowego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76072" y="2852928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9FB0C4"/>
                </a:solidFill>
              </a:rPr>
              <a:t>Projekt klasyfikuje rekordy cloud billing jako NORMAL lub ANOMALIA i pokazuje kompletny pipeline ML.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37033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4C8FF"/>
                </a:solidFill>
              </a:rPr>
              <a:t>5 040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402336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FB0C4"/>
                </a:solidFill>
              </a:rPr>
              <a:t>rekordów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920240" y="37033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5555"/>
                </a:solidFill>
              </a:rPr>
              <a:t>352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920240" y="402336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FB0C4"/>
                </a:solidFill>
              </a:rPr>
              <a:t>anomalii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200400" y="37033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CC71"/>
                </a:solidFill>
              </a:rPr>
              <a:t>4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200400" y="4023360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FB0C4"/>
                </a:solidFill>
              </a:rPr>
              <a:t>modele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480560" y="37033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B454"/>
                </a:solidFill>
              </a:rPr>
              <a:t>0,886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480560" y="40233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FB0C4"/>
                </a:solidFill>
              </a:rPr>
              <a:t>best F1</a:t>
            </a:r>
            <a:endParaRPr lang="en-US" sz="750" dirty="0"/>
          </a:p>
        </p:txBody>
      </p:sp>
      <p:pic>
        <p:nvPicPr>
          <p:cNvPr id="13" name="Image 0" descr="/mnt/data/rolling_avg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770144"/>
            <a:ext cx="4160520" cy="1580353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406640" y="4087368"/>
            <a:ext cx="4160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9FB0C4"/>
                </a:solidFill>
              </a:rPr>
              <a:t>Aktualny koszt vs średnia krocząca</a:t>
            </a:r>
            <a:endParaRPr lang="en-US" sz="720" dirty="0"/>
          </a:p>
        </p:txBody>
      </p:sp>
      <p:sp>
        <p:nvSpPr>
          <p:cNvPr id="15" name="Text 12"/>
          <p:cNvSpPr/>
          <p:nvPr/>
        </p:nvSpPr>
        <p:spPr>
          <a:xfrm>
            <a:off x="7086600" y="452628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EAF2FF"/>
                </a:solidFill>
              </a:rPr>
              <a:t>Autor: Maksim Ivanouski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EAF2FF"/>
                </a:solidFill>
              </a:rPr>
              <a:t>Przedmiot: Uczenie maszynowe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EAF2FF"/>
                </a:solidFill>
              </a:rPr>
              <a:t>Data: Czerwiec 2026</a:t>
            </a:r>
            <a:endParaRPr lang="en-US" sz="1020" dirty="0"/>
          </a:p>
        </p:txBody>
      </p:sp>
      <p:sp>
        <p:nvSpPr>
          <p:cNvPr id="16" name="Text 13"/>
          <p:cNvSpPr/>
          <p:nvPr/>
        </p:nvSpPr>
        <p:spPr>
          <a:xfrm>
            <a:off x="7086600" y="5193792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9FB0C4"/>
                </a:solidFill>
              </a:rPr>
              <a:t>Dane: syntetyczne, bez prywatnych billingów i bez kluczy cloud.</a:t>
            </a:r>
            <a:endParaRPr lang="en-US" sz="920" dirty="0"/>
          </a:p>
        </p:txBody>
      </p:sp>
      <p:sp>
        <p:nvSpPr>
          <p:cNvPr id="17" name="Text 14"/>
          <p:cNvSpPr/>
          <p:nvPr/>
        </p:nvSpPr>
        <p:spPr>
          <a:xfrm>
            <a:off x="502920" y="644652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FB0C4"/>
                </a:solidFill>
              </a:rPr>
              <a:t>Cloud Cost Anomaly Detection · 01/12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543800" y="644652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9FB0C4"/>
                </a:solidFill>
              </a:rPr>
              <a:t>Źródło: GitHub + lokalne uruchomienia projektu</a:t>
            </a:r>
            <a:endParaRPr lang="en-US" sz="7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biznesowy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02920" y="758952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9FB0C4"/>
                </a:solidFill>
              </a:rPr>
              <a:t>Nieoczekiwane wzrosty kosztów w AWS/Azure/GCP mogą szybko przełożyć się na realne straty.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pic>
        <p:nvPicPr>
          <p:cNvPr id="5" name="Image 0" descr="/mnt/data/cost_over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04246"/>
            <a:ext cx="6812280" cy="24014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5120640"/>
            <a:ext cx="6812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9FB0C4"/>
                </a:solidFill>
              </a:rPr>
              <a:t>Koszt w czasie z zaznaczonymi anomaliami</a:t>
            </a:r>
            <a:endParaRPr lang="en-US" sz="720" dirty="0"/>
          </a:p>
        </p:txBody>
      </p:sp>
      <p:sp>
        <p:nvSpPr>
          <p:cNvPr id="7" name="Text 4"/>
          <p:cNvSpPr/>
          <p:nvPr/>
        </p:nvSpPr>
        <p:spPr>
          <a:xfrm>
            <a:off x="7818120" y="12984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AF2FF"/>
                </a:solidFill>
              </a:rPr>
              <a:t>Źródła problemu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818120" y="1828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C8FF"/>
                </a:solidFill>
              </a:rPr>
              <a:t>● </a:t>
            </a:r>
            <a:r>
              <a:rPr lang="en-US" sz="1220" dirty="0">
                <a:solidFill>
                  <a:srgbClr val="EAF2FF"/>
                </a:solidFill>
              </a:rPr>
              <a:t>błędna konfiguracja zasobów</a:t>
            </a:r>
            <a:endParaRPr lang="en-US" sz="1220" dirty="0"/>
          </a:p>
        </p:txBody>
      </p:sp>
      <p:sp>
        <p:nvSpPr>
          <p:cNvPr id="9" name="Text 6"/>
          <p:cNvSpPr/>
          <p:nvPr/>
        </p:nvSpPr>
        <p:spPr>
          <a:xfrm>
            <a:off x="7818120" y="2240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C8FF"/>
                </a:solidFill>
              </a:rPr>
              <a:t>● </a:t>
            </a:r>
            <a:r>
              <a:rPr lang="en-US" sz="1220" dirty="0">
                <a:solidFill>
                  <a:srgbClr val="EAF2FF"/>
                </a:solidFill>
              </a:rPr>
              <a:t>zapomniane środowiska testowe</a:t>
            </a:r>
            <a:endParaRPr lang="en-US" sz="1220" dirty="0"/>
          </a:p>
        </p:txBody>
      </p:sp>
      <p:sp>
        <p:nvSpPr>
          <p:cNvPr id="10" name="Text 7"/>
          <p:cNvSpPr/>
          <p:nvPr/>
        </p:nvSpPr>
        <p:spPr>
          <a:xfrm>
            <a:off x="7818120" y="2651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C8FF"/>
                </a:solidFill>
              </a:rPr>
              <a:t>● </a:t>
            </a:r>
            <a:r>
              <a:rPr lang="en-US" sz="1220" dirty="0">
                <a:solidFill>
                  <a:srgbClr val="EAF2FF"/>
                </a:solidFill>
              </a:rPr>
              <a:t>skoki transferu danych lub logowania</a:t>
            </a:r>
            <a:endParaRPr lang="en-US" sz="1220" dirty="0"/>
          </a:p>
        </p:txBody>
      </p:sp>
      <p:sp>
        <p:nvSpPr>
          <p:cNvPr id="11" name="Text 8"/>
          <p:cNvSpPr/>
          <p:nvPr/>
        </p:nvSpPr>
        <p:spPr>
          <a:xfrm>
            <a:off x="7818120" y="3063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C8FF"/>
                </a:solidFill>
              </a:rPr>
              <a:t>● </a:t>
            </a:r>
            <a:r>
              <a:rPr lang="en-US" sz="1220" dirty="0">
                <a:solidFill>
                  <a:srgbClr val="EAF2FF"/>
                </a:solidFill>
              </a:rPr>
              <a:t>zduplikowane wdrożenia</a:t>
            </a:r>
            <a:endParaRPr lang="en-US" sz="1220" dirty="0"/>
          </a:p>
        </p:txBody>
      </p:sp>
      <p:sp>
        <p:nvSpPr>
          <p:cNvPr id="12" name="Text 9"/>
          <p:cNvSpPr/>
          <p:nvPr/>
        </p:nvSpPr>
        <p:spPr>
          <a:xfrm>
            <a:off x="78181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4C8FF"/>
                </a:solidFill>
              </a:rPr>
              <a:t>● </a:t>
            </a:r>
            <a:r>
              <a:rPr lang="en-US" sz="1220" dirty="0">
                <a:solidFill>
                  <a:srgbClr val="EAF2FF"/>
                </a:solidFill>
              </a:rPr>
              <a:t>ręczne monitorowanie nie skaluje się</a:t>
            </a:r>
            <a:endParaRPr lang="en-US" sz="1220" dirty="0"/>
          </a:p>
        </p:txBody>
      </p:sp>
      <p:sp>
        <p:nvSpPr>
          <p:cNvPr id="13" name="Text 10"/>
          <p:cNvSpPr/>
          <p:nvPr/>
        </p:nvSpPr>
        <p:spPr>
          <a:xfrm>
            <a:off x="7818120" y="427939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5555"/>
                </a:solidFill>
              </a:rPr>
              <a:t>Kluczowy błąd: False Negative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818120" y="464515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EAF2FF"/>
                </a:solidFill>
              </a:rPr>
              <a:t>Model mówi „NORMAL”, ale firma traci pieniądze przez przeoczoną anomalię.</a:t>
            </a:r>
            <a:endParaRPr lang="en-US" sz="1120" dirty="0"/>
          </a:p>
        </p:txBody>
      </p:sp>
      <p:sp>
        <p:nvSpPr>
          <p:cNvPr id="15" name="Text 12"/>
          <p:cNvSpPr/>
          <p:nvPr/>
        </p:nvSpPr>
        <p:spPr>
          <a:xfrm>
            <a:off x="502920" y="644652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FB0C4"/>
                </a:solidFill>
              </a:rPr>
              <a:t>Cloud Cost Anomaly Detection · 02/12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7543800" y="644652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9FB0C4"/>
                </a:solidFill>
              </a:rPr>
              <a:t>Źródło: GitHub + lokalne uruchomienia projektu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Zbiór danych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02920" y="758952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9FB0C4"/>
                </a:solidFill>
              </a:rPr>
              <a:t>5 040 syntetycznych rekordów cloud billing, 20 kolumn raw, 36 kolumn po feature engineering.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pic>
        <p:nvPicPr>
          <p:cNvPr id="5" name="Image 0" descr="/mnt/data/clas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451709"/>
            <a:ext cx="4937760" cy="35065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5166360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9FB0C4"/>
                </a:solidFill>
              </a:rPr>
              <a:t>Nierównowaga klas: 6,98% anomalii</a:t>
            </a:r>
            <a:endParaRPr lang="en-US" sz="720" dirty="0"/>
          </a:p>
        </p:txBody>
      </p:sp>
      <p:sp>
        <p:nvSpPr>
          <p:cNvPr id="7" name="Text 4"/>
          <p:cNvSpPr/>
          <p:nvPr/>
        </p:nvSpPr>
        <p:spPr>
          <a:xfrm>
            <a:off x="6035040" y="13533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CC71"/>
                </a:solidFill>
              </a:rPr>
              <a:t>4 688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035040" y="16733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FB0C4"/>
                </a:solidFill>
              </a:rPr>
              <a:t>normalne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360920" y="13533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5555"/>
                </a:solidFill>
              </a:rPr>
              <a:t>352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60920" y="16733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FB0C4"/>
                </a:solidFill>
              </a:rPr>
              <a:t>anomalie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8686800" y="13533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4C8FF"/>
                </a:solidFill>
              </a:rPr>
              <a:t>3×4×7×3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686800" y="16733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FB0C4"/>
                </a:solidFill>
              </a:rPr>
              <a:t>scope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058400" y="135331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B454"/>
                </a:solidFill>
              </a:rPr>
              <a:t>67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0058400" y="16733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9FB0C4"/>
                </a:solidFill>
              </a:rPr>
              <a:t>random seed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897880" y="242316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Element             Wartość                                                   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------------------------------------------------------------------------------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Dostawcy            AWS · Azure · Google Cloud                                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Regiony             us-east-1 · eu-central-1 · eu-west-1 · us-west-2          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Usługi              EC2 · S3 · RDS · Lambda · CloudWatch · Data Transfer · Kub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Środowiska          production · staging · development                        </a:t>
            </a:r>
            <a:endParaRPr lang="en-US" sz="720" dirty="0"/>
          </a:p>
          <a:p>
            <a:pPr marL="0" indent="0">
              <a:buNone/>
            </a:pPr>
            <a:r>
              <a:rPr lang="en-US" sz="72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Typy anomalii       8 scenariuszy, m.in. compute spike i forgotten dev        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6035040" y="5394960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0C4"/>
                </a:solidFill>
              </a:rPr>
              <a:t>Ważne: `anomaly_type` służy tylko do analizy, nie jest cechą modelu.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02920" y="644652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FB0C4"/>
                </a:solidFill>
              </a:rPr>
              <a:t>Cloud Cost Anomaly Detection · 03/12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543800" y="644652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9FB0C4"/>
                </a:solidFill>
              </a:rPr>
              <a:t>Źródło: GitHub + lokalne uruchomienia projektu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Inżynieria cech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02920" y="758952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9FB0C4"/>
                </a:solidFill>
              </a:rPr>
              <a:t>Model nie patrzy tylko na koszt, ale na kontekst kosztu.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C8FF"/>
                </a:solidFill>
              </a:rPr>
              <a:t>Cechy temporalne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181051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day_of_week · is_weekend · month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Pomagają odróżnić dni robocze od weekendów.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0" y="1417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C8FF"/>
                </a:solidFill>
              </a:rPr>
              <a:t>Cechy trendowe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0" y="181051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rolling_3/7_day_avg · cost ratio · change %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Pokazują odchylenie od historii kosztów.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454"/>
                </a:solidFill>
              </a:rPr>
              <a:t>Cechy efektywności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33649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cost_per_resource · cost_per_compute_hour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cost_per_gb_transfer · cost_per_1000_requests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29718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454"/>
                </a:solidFill>
              </a:rPr>
              <a:t>Wskaźniki pomocnicze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943600" y="33649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drogi development · wysoki transfer · wysoki compute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Czytelne sygnały do interpretacji predykcji.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434840"/>
            <a:ext cx="1051560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8006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CC71"/>
                </a:solidFill>
              </a:rPr>
              <a:t>Zasady bezpieczeństwa danych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521208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2ECC71"/>
                </a:solidFill>
              </a:rPr>
              <a:t>● </a:t>
            </a:r>
            <a:r>
              <a:rPr lang="en-US" sz="1180" dirty="0">
                <a:solidFill>
                  <a:srgbClr val="EAF2FF"/>
                </a:solidFill>
              </a:rPr>
              <a:t>rolling features liczone tylko z przeszłości</a:t>
            </a:r>
            <a:endParaRPr lang="en-US" sz="1180" dirty="0"/>
          </a:p>
        </p:txBody>
      </p:sp>
      <p:sp>
        <p:nvSpPr>
          <p:cNvPr id="16" name="Text 14"/>
          <p:cNvSpPr/>
          <p:nvPr/>
        </p:nvSpPr>
        <p:spPr>
          <a:xfrm>
            <a:off x="868680" y="562356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2ECC71"/>
                </a:solidFill>
              </a:rPr>
              <a:t>● </a:t>
            </a:r>
            <a:r>
              <a:rPr lang="en-US" sz="1180" dirty="0">
                <a:solidFill>
                  <a:srgbClr val="EAF2FF"/>
                </a:solidFill>
              </a:rPr>
              <a:t>`is_anomaly` i `anomaly_type` wykluczone z X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868680" y="603504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2ECC71"/>
                </a:solidFill>
              </a:rPr>
              <a:t>● </a:t>
            </a:r>
            <a:r>
              <a:rPr lang="en-US" sz="1180" dirty="0">
                <a:solidFill>
                  <a:srgbClr val="EAF2FF"/>
                </a:solidFill>
              </a:rPr>
              <a:t>dzielenie bezpieczne: denominator + 1</a:t>
            </a:r>
            <a:endParaRPr lang="en-US" sz="1180" dirty="0"/>
          </a:p>
        </p:txBody>
      </p:sp>
      <p:sp>
        <p:nvSpPr>
          <p:cNvPr id="18" name="Text 16"/>
          <p:cNvSpPr/>
          <p:nvPr/>
        </p:nvSpPr>
        <p:spPr>
          <a:xfrm>
            <a:off x="6400800" y="4800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5555"/>
                </a:solidFill>
              </a:rPr>
              <a:t>Przykład logiki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00800" y="523036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prod EC2: 420 USD przy avg 405 → normalne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dev EC2: 1200 USD przy avg 100 → anomalia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FB0C4"/>
                </a:solidFill>
              </a:rPr>
              <a:t>Cloud Cost Anomaly Detection · 04/12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7543800" y="644652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9FB0C4"/>
                </a:solidFill>
              </a:rPr>
              <a:t>Źródło: GitHub + lokalne uruchomienia projektu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Pipeline ML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02920" y="758952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9FB0C4"/>
                </a:solidFill>
              </a:rPr>
              <a:t>Od generowania danych do predykcji nowego rekordu.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01952" y="2084832"/>
            <a:ext cx="109728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319272" y="2084832"/>
            <a:ext cx="109728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736592" y="2084832"/>
            <a:ext cx="109728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153912" y="2084832"/>
            <a:ext cx="109728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571232" y="2084832"/>
            <a:ext cx="109728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988552" y="2084832"/>
            <a:ext cx="109728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0405872" y="2084832"/>
            <a:ext cx="109728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94360" y="1828800"/>
            <a:ext cx="13075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AF2FF"/>
                </a:solidFill>
              </a:rPr>
              <a:t>Generowanie danych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011680" y="1828800"/>
            <a:ext cx="13075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AF2FF"/>
                </a:solidFill>
              </a:rPr>
              <a:t>Walidacja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429000" y="1828800"/>
            <a:ext cx="13075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AF2FF"/>
                </a:solidFill>
              </a:rPr>
              <a:t>Feature engineering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846320" y="1828800"/>
            <a:ext cx="13075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C8FF"/>
                </a:solidFill>
              </a:rPr>
              <a:t>Preprocessing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263640" y="1828800"/>
            <a:ext cx="13075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AF2FF"/>
                </a:solidFill>
              </a:rPr>
              <a:t>Train/Test 80/20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680960" y="1828800"/>
            <a:ext cx="13075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AF2FF"/>
                </a:solidFill>
              </a:rPr>
              <a:t>Modele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9098280" y="1828800"/>
            <a:ext cx="13075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AF2FF"/>
                </a:solidFill>
              </a:rPr>
              <a:t>Ewaluacja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515600" y="1828800"/>
            <a:ext cx="13075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AF2FF"/>
                </a:solidFill>
              </a:rPr>
              <a:t>Predykcja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31520" y="2788920"/>
            <a:ext cx="1069848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3375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ECC71"/>
                </a:solidFill>
              </a:rPr>
              <a:t>● </a:t>
            </a:r>
            <a:r>
              <a:rPr lang="en-US" sz="1300" dirty="0">
                <a:solidFill>
                  <a:srgbClr val="EAF2FF"/>
                </a:solidFill>
              </a:rPr>
              <a:t>RobustScaler: odporny na outliery i skoki kosztów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374904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ECC71"/>
                </a:solidFill>
              </a:rPr>
              <a:t>● </a:t>
            </a:r>
            <a:r>
              <a:rPr lang="en-US" sz="1300" dirty="0">
                <a:solidFill>
                  <a:srgbClr val="EAF2FF"/>
                </a:solidFill>
              </a:rPr>
              <a:t>OneHotEncoder(handle_unknown="ignore"): bez fałszywej kolejności kategorii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16052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ECC71"/>
                </a:solidFill>
              </a:rPr>
              <a:t>● </a:t>
            </a:r>
            <a:r>
              <a:rPr lang="en-US" sz="1300" dirty="0">
                <a:solidFill>
                  <a:srgbClr val="EAF2FF"/>
                </a:solidFill>
              </a:rPr>
              <a:t>GridSearchCV: cv=4, scoring=f1 dla Lasu Losowego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45720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ECC71"/>
                </a:solidFill>
              </a:rPr>
              <a:t>● </a:t>
            </a:r>
            <a:r>
              <a:rPr lang="en-US" sz="1300" dirty="0">
                <a:solidFill>
                  <a:srgbClr val="EAF2FF"/>
                </a:solidFill>
              </a:rPr>
              <a:t>Test set używany tylko do finalnej ewaluacji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2920" y="644652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FB0C4"/>
                </a:solidFill>
              </a:rPr>
              <a:t>Cloud Cost Anomaly Detection · 05/12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7543800" y="644652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9FB0C4"/>
                </a:solidFill>
              </a:rPr>
              <a:t>Źródło: GitHub + lokalne uruchomienia projektu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02920" y="758952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9FB0C4"/>
                </a:solidFill>
              </a:rPr>
              <a:t>Cztery podejścia: punkt odniesienia, modele nadzorowane i anomaly detection bez etykiet.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17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FB0C4"/>
                </a:solidFill>
              </a:rPr>
              <a:t>Baseline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Zawsze przewiduje klasę większościową. Pokazuje, że wysoka accuracy może nic nie znaczyć.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0" y="14173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4C8FF"/>
                </a:solidFill>
              </a:rPr>
              <a:t>Regresja logistyczna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0" y="182880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Model nadzorowany. Prosty, liniowy, z `class_weight="balanced"`. Bardzo wysoki recall.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1546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CC71"/>
                </a:solidFill>
              </a:rPr>
              <a:t>Las losowy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56616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Model nadzorowany. Zespół drzew + GridSearchCV. Najlepszy balans precision/recall.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31546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454"/>
                </a:solidFill>
              </a:rPr>
              <a:t>Las izolacyjny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0" y="3566160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Model nienadzorowany. Nie zna etykiet `is_anomaly`, szuka statystycznie nietypowych obserwacji.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709160"/>
            <a:ext cx="1051560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0749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4C8FF"/>
                </a:solidFill>
              </a:rPr>
              <a:t>Najważniejsza różnica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" y="5486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Regresja logistyczna i Las losowy uczą się z etykiet. Las izolacyjny nie zna etykiet, dlatego może wykrywać mniej anomalii, ale jest użyteczny, gdy firma nie ma oznaczonych danych historycznych.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644652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FB0C4"/>
                </a:solidFill>
              </a:rPr>
              <a:t>Cloud Cost Anomaly Detection · 06/12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7543800" y="644652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9FB0C4"/>
                </a:solidFill>
              </a:rPr>
              <a:t>Źródło: GitHub + lokalne uruchomienia projektu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Wyniki testowe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02920" y="758952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9FB0C4"/>
                </a:solidFill>
              </a:rPr>
              <a:t>1008 rekordów testowych, 70 anomalii, anomaly rate 6,94%.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pic>
        <p:nvPicPr>
          <p:cNvPr id="5" name="Image 0" descr="/mnt/data/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423" y="1234440"/>
            <a:ext cx="4679713" cy="2788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404164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9FB0C4"/>
                </a:solidFill>
              </a:rPr>
              <a:t>F1-score i recall</a:t>
            </a:r>
            <a:endParaRPr lang="en-US" sz="720" dirty="0"/>
          </a:p>
        </p:txBody>
      </p:sp>
      <p:sp>
        <p:nvSpPr>
          <p:cNvPr id="7" name="Text 4"/>
          <p:cNvSpPr/>
          <p:nvPr/>
        </p:nvSpPr>
        <p:spPr>
          <a:xfrm>
            <a:off x="6537960" y="132588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4C8FF"/>
                </a:solidFill>
              </a:rPr>
              <a:t>Najważniejsze metryki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37960" y="1810512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dirty="0">
                <a:solidFill>
                  <a:srgbClr val="EAF2FF"/>
                </a:solidFill>
              </a:rPr>
              <a:t>Baseline: F1 0,0000 · Recall 0,0000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dirty="0">
                <a:solidFill>
                  <a:srgbClr val="EAF2FF"/>
                </a:solidFill>
              </a:rPr>
              <a:t>Regresja logistyczna: F1 0,8516 · Recall 0,9429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dirty="0">
                <a:solidFill>
                  <a:srgbClr val="EAF2FF"/>
                </a:solidFill>
              </a:rPr>
              <a:t>Las losowy: F1 0,8857 · Recall 0,8857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dirty="0">
                <a:solidFill>
                  <a:srgbClr val="EAF2FF"/>
                </a:solidFill>
              </a:rPr>
              <a:t>Las izolacyjny: F1 0,5556 · Recall 0,5714</a:t>
            </a:r>
            <a:endParaRPr lang="en-US" sz="1220" dirty="0"/>
          </a:p>
        </p:txBody>
      </p:sp>
      <p:sp>
        <p:nvSpPr>
          <p:cNvPr id="9" name="Text 6"/>
          <p:cNvSpPr/>
          <p:nvPr/>
        </p:nvSpPr>
        <p:spPr>
          <a:xfrm>
            <a:off x="6537960" y="34290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CC71"/>
                </a:solidFill>
              </a:rPr>
              <a:t>Finalny model: Las losowy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537960" y="38404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20" dirty="0">
                <a:solidFill>
                  <a:srgbClr val="EAF2FF"/>
                </a:solidFill>
              </a:rPr>
              <a:t>Accuracy 0,9841 · Precision 0,8857 · Recall 0,8857 · F1 0,8857 · ROC-AUC 0,9863</a:t>
            </a:r>
            <a:endParaRPr lang="en-US" sz="1120" dirty="0"/>
          </a:p>
        </p:txBody>
      </p:sp>
      <p:sp>
        <p:nvSpPr>
          <p:cNvPr id="11" name="Text 8"/>
          <p:cNvSpPr/>
          <p:nvPr/>
        </p:nvSpPr>
        <p:spPr>
          <a:xfrm>
            <a:off x="868680" y="4892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454"/>
                </a:solidFill>
              </a:rPr>
              <a:t>Threshold tuning RF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68680" y="52852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EAF2FF"/>
                </a:solidFill>
              </a:rPr>
              <a:t>Próg 0,5: F1 0,8857 · Recall 0,8857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EAF2FF"/>
                </a:solidFill>
              </a:rPr>
              <a:t>Próg 0,3: F1 0,8387 · Recall 0,9286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537960" y="48920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5555"/>
                </a:solidFill>
              </a:rPr>
              <a:t>Accuracy nie wystarczy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537960" y="52852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EAF2FF"/>
                </a:solidFill>
              </a:rPr>
              <a:t>Baseline ma 93% accuracy, ale 0% recall — nie wykrywa żadnej anomalii.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644652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FB0C4"/>
                </a:solidFill>
              </a:rPr>
              <a:t>Cloud Cost Anomaly Detection · 07/12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7543800" y="644652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9FB0C4"/>
                </a:solidFill>
              </a:rPr>
              <a:t>Źródło: GitHub + lokalne uruchomienia projektu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Wizualizacja wyników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02920" y="758952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9FB0C4"/>
                </a:solidFill>
              </a:rPr>
              <a:t>Błędy i separacja klas w modelach nadzorowanych.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pic>
        <p:nvPicPr>
          <p:cNvPr id="5" name="Image 0" descr="/mnt/data/confusion_matrix_random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805" y="1234440"/>
            <a:ext cx="4714590" cy="3977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230368"/>
            <a:ext cx="4800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9FB0C4"/>
                </a:solidFill>
              </a:rPr>
              <a:t>Las losowy: 930 TN, 62 TP, 8 FP, 8 FN</a:t>
            </a:r>
            <a:endParaRPr lang="en-US" sz="720" dirty="0"/>
          </a:p>
        </p:txBody>
      </p:sp>
      <p:pic>
        <p:nvPicPr>
          <p:cNvPr id="7" name="Image 1" descr="/mnt/data/roc_curve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005" y="1234440"/>
            <a:ext cx="4554110" cy="3977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89320" y="5230368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9FB0C4"/>
                </a:solidFill>
              </a:rPr>
              <a:t>ROC-AUC: LR 0,973 · RF 0,986</a:t>
            </a:r>
            <a:endParaRPr lang="en-US" sz="720" dirty="0"/>
          </a:p>
        </p:txBody>
      </p:sp>
      <p:sp>
        <p:nvSpPr>
          <p:cNvPr id="9" name="Text 5"/>
          <p:cNvSpPr/>
          <p:nvPr/>
        </p:nvSpPr>
        <p:spPr>
          <a:xfrm>
            <a:off x="914400" y="562356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EAF2FF"/>
                </a:solidFill>
              </a:rPr>
              <a:t>FP = fałszywy alarm. FN = przeoczona anomalia. W cloud cost monitoring FN zwykle jest groźniejszy.</a:t>
            </a:r>
            <a:endParaRPr lang="en-US" sz="1080" dirty="0"/>
          </a:p>
        </p:txBody>
      </p:sp>
      <p:sp>
        <p:nvSpPr>
          <p:cNvPr id="10" name="Text 6"/>
          <p:cNvSpPr/>
          <p:nvPr/>
        </p:nvSpPr>
        <p:spPr>
          <a:xfrm>
            <a:off x="502920" y="644652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FB0C4"/>
                </a:solidFill>
              </a:rPr>
              <a:t>Cloud Cost Anomaly Detection · 08/12</a:t>
            </a:r>
            <a:endParaRPr lang="en-US" sz="720" dirty="0"/>
          </a:p>
        </p:txBody>
      </p:sp>
      <p:sp>
        <p:nvSpPr>
          <p:cNvPr id="11" name="Text 7"/>
          <p:cNvSpPr/>
          <p:nvPr/>
        </p:nvSpPr>
        <p:spPr>
          <a:xfrm>
            <a:off x="7543800" y="644652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9FB0C4"/>
                </a:solidFill>
              </a:rPr>
              <a:t>Źródło: GitHub + lokalne uruchomienia projektu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Interpretowalność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02920" y="758952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9FB0C4"/>
                </a:solidFill>
              </a:rPr>
              <a:t>Najważniejsze cechy pokazują, że model pracuje na odchyleniu od wzorca.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pic>
        <p:nvPicPr>
          <p:cNvPr id="5" name="Image 0" descr="/mnt/data/feature_importance_random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841" y="1188720"/>
            <a:ext cx="5936974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5779008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9FB0C4"/>
                </a:solidFill>
              </a:rPr>
              <a:t>Top 15 feature importance — Random Forest</a:t>
            </a:r>
            <a:endParaRPr lang="en-US" sz="720" dirty="0"/>
          </a:p>
        </p:txBody>
      </p:sp>
      <p:sp>
        <p:nvSpPr>
          <p:cNvPr id="7" name="Text 4"/>
          <p:cNvSpPr/>
          <p:nvPr/>
        </p:nvSpPr>
        <p:spPr>
          <a:xfrm>
            <a:off x="731520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4C8FF"/>
                </a:solidFill>
              </a:rPr>
              <a:t>Najsilniejsze sygnały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452360" y="1874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ECC71"/>
                </a:solidFill>
              </a:rPr>
              <a:t>● </a:t>
            </a:r>
            <a:r>
              <a:rPr lang="en-US" sz="1150" dirty="0">
                <a:solidFill>
                  <a:srgbClr val="EAF2FF"/>
                </a:solidFill>
              </a:rPr>
              <a:t>cost_to_rolling_7_day_ratio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452360" y="2286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ECC71"/>
                </a:solidFill>
              </a:rPr>
              <a:t>● </a:t>
            </a:r>
            <a:r>
              <a:rPr lang="en-US" sz="1150" dirty="0">
                <a:solidFill>
                  <a:srgbClr val="EAF2FF"/>
                </a:solidFill>
              </a:rPr>
              <a:t>cost_to_rolling_3_day_ratio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452360" y="26974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ECC71"/>
                </a:solidFill>
              </a:rPr>
              <a:t>● </a:t>
            </a:r>
            <a:r>
              <a:rPr lang="en-US" sz="1150" dirty="0">
                <a:solidFill>
                  <a:srgbClr val="EAF2FF"/>
                </a:solidFill>
              </a:rPr>
              <a:t>cost_change_percent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452360" y="3108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ECC71"/>
                </a:solidFill>
              </a:rPr>
              <a:t>● </a:t>
            </a:r>
            <a:r>
              <a:rPr lang="en-US" sz="1150" dirty="0">
                <a:solidFill>
                  <a:srgbClr val="EAF2FF"/>
                </a:solidFill>
              </a:rPr>
              <a:t>cost_difference_from_previous_day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452360" y="3520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ECC71"/>
                </a:solidFill>
              </a:rPr>
              <a:t>● </a:t>
            </a:r>
            <a:r>
              <a:rPr lang="en-US" sz="1150" dirty="0">
                <a:solidFill>
                  <a:srgbClr val="EAF2FF"/>
                </a:solidFill>
              </a:rPr>
              <a:t>cost_per_storage_gb / resource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315200" y="45262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EAF2FF"/>
                </a:solidFill>
              </a:rPr>
              <a:t>Wniosek: nie chodzi o samą wartość kosztu, ale o relację do historii, środowiska i usługi.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02920" y="644652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FB0C4"/>
                </a:solidFill>
              </a:rPr>
              <a:t>Cloud Cost Anomaly Detection · 09/12</a:t>
            </a:r>
            <a:endParaRPr lang="en-US" sz="720" dirty="0"/>
          </a:p>
        </p:txBody>
      </p:sp>
      <p:sp>
        <p:nvSpPr>
          <p:cNvPr id="15" name="Text 12"/>
          <p:cNvSpPr/>
          <p:nvPr/>
        </p:nvSpPr>
        <p:spPr>
          <a:xfrm>
            <a:off x="7543800" y="644652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9FB0C4"/>
                </a:solidFill>
              </a:rPr>
              <a:t>Źródło: GitHub + lokalne uruchomienia projektu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Demo: `src/predict.py`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02920" y="758952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9FB0C4"/>
                </a:solidFill>
              </a:rPr>
              <a:t>Praktyczne użycie zapisanego pipeline’u na dwóch rekordach.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258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CC71"/>
                </a:solidFill>
              </a:rPr>
              <a:t>Przykład 1: NORMAL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484632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3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Provider: AWS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 EC2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Environment: production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Cost: $420.00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7-day avg: $405.00</a:t>
            </a:r>
            <a:endParaRPr lang="en-US" sz="1130" dirty="0"/>
          </a:p>
          <a:p>
            <a:pPr marL="0" indent="0">
              <a:buNone/>
            </a:pP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Prediction: NORMAL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Predicted probability: 100.0%</a:t>
            </a:r>
            <a:endParaRPr lang="en-US" sz="1130" dirty="0"/>
          </a:p>
          <a:p>
            <a:pPr marL="0" indent="0">
              <a:buNone/>
            </a:pPr>
            <a:r>
              <a:rPr lang="en-US" sz="113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suspicious indicators detected.</a:t>
            </a:r>
            <a:endParaRPr lang="en-US" sz="1130" dirty="0"/>
          </a:p>
        </p:txBody>
      </p:sp>
      <p:sp>
        <p:nvSpPr>
          <p:cNvPr id="7" name="Text 5"/>
          <p:cNvSpPr/>
          <p:nvPr/>
        </p:nvSpPr>
        <p:spPr>
          <a:xfrm>
            <a:off x="6400800" y="13258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5555"/>
                </a:solidFill>
              </a:rPr>
              <a:t>Przykład 2: ANOMALIA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0" y="1783080"/>
            <a:ext cx="484632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Provider: AWS</a:t>
            </a:r>
            <a:endParaRPr lang="en-US" sz="1060" dirty="0"/>
          </a:p>
          <a:p>
            <a:pPr marL="0" indent="0">
              <a:buNone/>
            </a:pPr>
            <a:r>
              <a:rPr lang="en-US" sz="10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 EC2</a:t>
            </a:r>
            <a:endParaRPr lang="en-US" sz="1060" dirty="0"/>
          </a:p>
          <a:p>
            <a:pPr marL="0" indent="0">
              <a:buNone/>
            </a:pPr>
            <a:r>
              <a:rPr lang="en-US" sz="10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Environment: development</a:t>
            </a:r>
            <a:endParaRPr lang="en-US" sz="1060" dirty="0"/>
          </a:p>
          <a:p>
            <a:pPr marL="0" indent="0">
              <a:buNone/>
            </a:pPr>
            <a:r>
              <a:rPr lang="en-US" sz="10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Cost: $1,200.00</a:t>
            </a:r>
            <a:endParaRPr lang="en-US" sz="1060" dirty="0"/>
          </a:p>
          <a:p>
            <a:pPr marL="0" indent="0">
              <a:buNone/>
            </a:pPr>
            <a:r>
              <a:rPr lang="en-US" sz="10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7-day avg: $100.00</a:t>
            </a:r>
            <a:endParaRPr lang="en-US" sz="1060" dirty="0"/>
          </a:p>
          <a:p>
            <a:pPr marL="0" indent="0">
              <a:buNone/>
            </a:pPr>
            <a:endParaRPr lang="en-US" sz="1060" dirty="0"/>
          </a:p>
          <a:p>
            <a:pPr marL="0" indent="0">
              <a:buNone/>
            </a:pPr>
            <a:r>
              <a:rPr lang="en-US" sz="10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Prediction: ANOMALY</a:t>
            </a:r>
            <a:endParaRPr lang="en-US" sz="1060" dirty="0"/>
          </a:p>
          <a:p>
            <a:pPr marL="0" indent="0">
              <a:buNone/>
            </a:pPr>
            <a:r>
              <a:rPr lang="en-US" sz="10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Predicted probability: 95.0%</a:t>
            </a:r>
            <a:endParaRPr lang="en-US" sz="1060" dirty="0"/>
          </a:p>
          <a:p>
            <a:pPr marL="0" indent="0">
              <a:buNone/>
            </a:pPr>
            <a:r>
              <a:rPr lang="en-US" sz="1060" dirty="0">
                <a:solidFill>
                  <a:srgbClr val="EAF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Indicators: 12× avg, expensive dev, high compute, high transfer, high resources.</a:t>
            </a:r>
            <a:endParaRPr lang="en-US" sz="1060" dirty="0"/>
          </a:p>
        </p:txBody>
      </p:sp>
      <p:sp>
        <p:nvSpPr>
          <p:cNvPr id="9" name="Text 7"/>
          <p:cNvSpPr/>
          <p:nvPr/>
        </p:nvSpPr>
        <p:spPr>
          <a:xfrm>
            <a:off x="914400" y="553212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0C4"/>
                </a:solidFill>
              </a:rPr>
              <a:t>„Predicted probability” w Random Forest oznacza udział drzew głosujących na klasę, nie absolutną pewność biznesową.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644652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FB0C4"/>
                </a:solidFill>
              </a:rPr>
              <a:t>Cloud Cost Anomaly Detection · 10/12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7543800" y="644652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9FB0C4"/>
                </a:solidFill>
              </a:rPr>
              <a:t>Źródło: GitHub + lokalne uruchomienia projektu</a:t>
            </a:r>
            <a:endParaRPr lang="en-US" sz="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Koncepcja architektury chmurowej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02920" y="758952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9FB0C4"/>
                </a:solidFill>
              </a:rPr>
              <a:t>Projekt działa lokalnie; slajd pokazuje docelową logikę w firmie.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48840" y="2468880"/>
            <a:ext cx="210312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703320" y="2468880"/>
            <a:ext cx="210312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257800" y="2468880"/>
            <a:ext cx="210312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812280" y="2468880"/>
            <a:ext cx="210312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366760" y="2468880"/>
            <a:ext cx="210312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921240" y="2468880"/>
            <a:ext cx="210312" cy="0"/>
          </a:xfrm>
          <a:prstGeom prst="line">
            <a:avLst/>
          </a:prstGeom>
          <a:noFill/>
          <a:ln w="15240">
            <a:solidFill>
              <a:srgbClr val="24C8FF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822960" y="2240280"/>
            <a:ext cx="1325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EAF2FF"/>
                </a:solidFill>
              </a:rPr>
              <a:t>Eksport danych</a:t>
            </a:r>
            <a:endParaRPr lang="en-US" sz="940" dirty="0"/>
          </a:p>
        </p:txBody>
      </p:sp>
      <p:sp>
        <p:nvSpPr>
          <p:cNvPr id="12" name="Text 10"/>
          <p:cNvSpPr/>
          <p:nvPr/>
        </p:nvSpPr>
        <p:spPr>
          <a:xfrm>
            <a:off x="2377440" y="2240280"/>
            <a:ext cx="1325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EAF2FF"/>
                </a:solidFill>
              </a:rPr>
              <a:t>Object Storage</a:t>
            </a:r>
            <a:endParaRPr lang="en-US" sz="940" dirty="0"/>
          </a:p>
        </p:txBody>
      </p:sp>
      <p:sp>
        <p:nvSpPr>
          <p:cNvPr id="13" name="Text 11"/>
          <p:cNvSpPr/>
          <p:nvPr/>
        </p:nvSpPr>
        <p:spPr>
          <a:xfrm>
            <a:off x="3931920" y="2240280"/>
            <a:ext cx="1325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EAF2FF"/>
                </a:solidFill>
              </a:rPr>
              <a:t>Scheduled Job</a:t>
            </a:r>
            <a:endParaRPr lang="en-US" sz="940" dirty="0"/>
          </a:p>
        </p:txBody>
      </p:sp>
      <p:sp>
        <p:nvSpPr>
          <p:cNvPr id="14" name="Text 12"/>
          <p:cNvSpPr/>
          <p:nvPr/>
        </p:nvSpPr>
        <p:spPr>
          <a:xfrm>
            <a:off x="5486400" y="2240280"/>
            <a:ext cx="1325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24C8FF"/>
                </a:solidFill>
              </a:rPr>
              <a:t>ML Pipeline</a:t>
            </a:r>
            <a:endParaRPr lang="en-US" sz="940" dirty="0"/>
          </a:p>
        </p:txBody>
      </p:sp>
      <p:sp>
        <p:nvSpPr>
          <p:cNvPr id="15" name="Text 13"/>
          <p:cNvSpPr/>
          <p:nvPr/>
        </p:nvSpPr>
        <p:spPr>
          <a:xfrm>
            <a:off x="7040880" y="2240280"/>
            <a:ext cx="1325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EAF2FF"/>
                </a:solidFill>
              </a:rPr>
              <a:t>Model Artifact</a:t>
            </a:r>
            <a:endParaRPr lang="en-US" sz="940" dirty="0"/>
          </a:p>
        </p:txBody>
      </p:sp>
      <p:sp>
        <p:nvSpPr>
          <p:cNvPr id="16" name="Text 14"/>
          <p:cNvSpPr/>
          <p:nvPr/>
        </p:nvSpPr>
        <p:spPr>
          <a:xfrm>
            <a:off x="8595360" y="2240280"/>
            <a:ext cx="1325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EAF2FF"/>
                </a:solidFill>
              </a:rPr>
              <a:t>Dashboard</a:t>
            </a:r>
            <a:endParaRPr lang="en-US" sz="940" dirty="0"/>
          </a:p>
        </p:txBody>
      </p:sp>
      <p:sp>
        <p:nvSpPr>
          <p:cNvPr id="17" name="Text 15"/>
          <p:cNvSpPr/>
          <p:nvPr/>
        </p:nvSpPr>
        <p:spPr>
          <a:xfrm>
            <a:off x="10149840" y="2240280"/>
            <a:ext cx="1325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EAF2FF"/>
                </a:solidFill>
              </a:rPr>
              <a:t>Alerting</a:t>
            </a:r>
            <a:endParaRPr lang="en-US" sz="940" dirty="0"/>
          </a:p>
        </p:txBody>
      </p:sp>
      <p:sp>
        <p:nvSpPr>
          <p:cNvPr id="18" name="Text 16"/>
          <p:cNvSpPr/>
          <p:nvPr/>
        </p:nvSpPr>
        <p:spPr>
          <a:xfrm>
            <a:off x="1005840" y="13258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AF2FF"/>
                </a:solidFill>
              </a:rPr>
              <a:t>Billing z AWS/Azure/GCP → przechowywanie → cykliczny scoring → dashboard → alert do FinOps/DevOps.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011680" y="406908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ECC71"/>
                </a:solidFill>
              </a:rPr>
              <a:t>● </a:t>
            </a:r>
            <a:r>
              <a:rPr lang="en-US" sz="1200" dirty="0">
                <a:solidFill>
                  <a:srgbClr val="EAF2FF"/>
                </a:solidFill>
              </a:rPr>
              <a:t>brak realnych kluczy cloud w projekcie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11680" y="448056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ECC71"/>
                </a:solidFill>
              </a:rPr>
              <a:t>● </a:t>
            </a:r>
            <a:r>
              <a:rPr lang="en-US" sz="1200" dirty="0">
                <a:solidFill>
                  <a:srgbClr val="EAF2FF"/>
                </a:solidFill>
              </a:rPr>
              <a:t>brak prywatnych danych billingowych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011680" y="489204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ECC71"/>
                </a:solidFill>
              </a:rPr>
              <a:t>● </a:t>
            </a:r>
            <a:r>
              <a:rPr lang="en-US" sz="1200" dirty="0">
                <a:solidFill>
                  <a:srgbClr val="EAF2FF"/>
                </a:solidFill>
              </a:rPr>
              <a:t>możliwość późniejszej integracji z API billingowym i alertami Slack/email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644652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FB0C4"/>
                </a:solidFill>
              </a:rPr>
              <a:t>Cloud Cost Anomaly Detection · 11/12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7543800" y="644652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9FB0C4"/>
                </a:solidFill>
              </a:rPr>
              <a:t>Źródło: GitHub + lokalne uruchomienia projektu</a:t>
            </a:r>
            <a:endParaRPr lang="en-US" sz="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Wnioski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02920" y="758952"/>
            <a:ext cx="11155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9FB0C4"/>
                </a:solidFill>
              </a:rPr>
              <a:t>Najważniejsze rezultaty i możliwe rozszerzenia.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02920" y="1024128"/>
            <a:ext cx="11155680" cy="0"/>
          </a:xfrm>
          <a:prstGeom prst="line">
            <a:avLst/>
          </a:prstGeom>
          <a:noFill/>
          <a:ln w="8890">
            <a:solidFill>
              <a:srgbClr val="4152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325880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ECC71"/>
                </a:solidFill>
              </a:rPr>
              <a:t>● </a:t>
            </a:r>
            <a:r>
              <a:rPr lang="en-US" sz="1300" dirty="0">
                <a:solidFill>
                  <a:srgbClr val="EAF2FF"/>
                </a:solidFill>
              </a:rPr>
              <a:t>ML skutecznie wspiera wykrywanie nietypowych kosztów chmury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737360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24C8FF"/>
                </a:solidFill>
              </a:rPr>
              <a:t>● </a:t>
            </a:r>
            <a:r>
              <a:rPr lang="en-US" sz="1300" dirty="0">
                <a:solidFill>
                  <a:srgbClr val="EAF2FF"/>
                </a:solidFill>
              </a:rPr>
              <a:t>Las losowy: najlepszy balans F1, precision i recall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FB454"/>
                </a:solidFill>
              </a:rPr>
              <a:t>● </a:t>
            </a:r>
            <a:r>
              <a:rPr lang="en-US" sz="1300" dirty="0">
                <a:solidFill>
                  <a:srgbClr val="EAF2FF"/>
                </a:solidFill>
              </a:rPr>
              <a:t>Najważniejsze są trendy i kontekst, nie sam koszt w USD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25555"/>
                </a:solidFill>
              </a:rPr>
              <a:t>● </a:t>
            </a:r>
            <a:r>
              <a:rPr lang="en-US" sz="1300" dirty="0">
                <a:solidFill>
                  <a:srgbClr val="EAF2FF"/>
                </a:solidFill>
              </a:rPr>
              <a:t>Accuracy jest myląca przy 7% anomalii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971800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9FB0C4"/>
                </a:solidFill>
              </a:rPr>
              <a:t>● </a:t>
            </a:r>
            <a:r>
              <a:rPr lang="en-US" sz="1300" dirty="0">
                <a:solidFill>
                  <a:srgbClr val="EAF2FF"/>
                </a:solidFill>
              </a:rPr>
              <a:t>Isolation Forest słabszy, ale przydatny bez etykiet historycznych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434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C8FF"/>
                </a:solidFill>
              </a:rPr>
              <a:t>Możliwe rozszerzenia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14400" y="486460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EAF2FF"/>
                </a:solidFill>
              </a:rPr>
              <a:t>real-time billing API · alerty Slack/email · modele szeregów czasowych · klasyfikacja typów anomalii · MLflow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571500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 err="1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Dziękuj</a:t>
            </a:r>
            <a:r>
              <a:rPr lang="pl-PL" sz="28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ę</a:t>
            </a:r>
            <a:r>
              <a:rPr lang="en-US" sz="2800" b="1" dirty="0">
                <a:solidFill>
                  <a:srgbClr val="EAF2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za uwagę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02920" y="644652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FB0C4"/>
                </a:solidFill>
              </a:rPr>
              <a:t>Cloud Cost Anomaly Detection · 12/12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7543800" y="644652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9FB0C4"/>
                </a:solidFill>
              </a:rPr>
              <a:t>Źródło: GitHub + lokalne uruchomienia projektu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1264</Words>
  <Application>Microsoft Office PowerPoint</Application>
  <PresentationFormat>Широкоэкранный</PresentationFormat>
  <Paragraphs>206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Aptos Display</vt:lpstr>
      <vt:lpstr>Arial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Wykrywanie anomalii w kosztach chmury z wykorzystaniem ML</dc:title>
  <dc:subject>Cloud Cost Anomaly Detection</dc:subject>
  <dc:creator>OpenAI</dc:creator>
  <cp:lastModifiedBy>Maksim Ivanovskiy</cp:lastModifiedBy>
  <cp:revision>2</cp:revision>
  <dcterms:created xsi:type="dcterms:W3CDTF">2026-06-15T21:32:42Z</dcterms:created>
  <dcterms:modified xsi:type="dcterms:W3CDTF">2026-06-16T14:03:05Z</dcterms:modified>
</cp:coreProperties>
</file>