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5760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Wykrywanie anomalii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 kosztach chmury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566928" y="22677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C8FF"/>
                </a:solidFill>
              </a:rPr>
              <a:t>z wykorzystaniem uczenia maszynowego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6072" y="285292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FB0C4"/>
                </a:solidFill>
              </a:rPr>
              <a:t>Projekt klasyfikuje rekordy cloud billing jako NORMAL lub ANOMALIA i pokazuje kompletny pipeline ML.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370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C8FF"/>
                </a:solidFill>
              </a:rPr>
              <a:t>5 040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40233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B0C4"/>
                </a:solidFill>
              </a:rPr>
              <a:t>rekordów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20240" y="370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5555"/>
                </a:solidFill>
              </a:rPr>
              <a:t>352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40233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B0C4"/>
                </a:solidFill>
              </a:rPr>
              <a:t>anomalii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00400" y="3703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</a:rPr>
              <a:t>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0" y="40233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B0C4"/>
                </a:solidFill>
              </a:rPr>
              <a:t>modele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480560" y="37033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454"/>
                </a:solidFill>
              </a:rPr>
              <a:t>0,886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402336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B0C4"/>
                </a:solidFill>
              </a:rPr>
              <a:t>best F1</a:t>
            </a:r>
            <a:endParaRPr lang="en-US" sz="750" dirty="0"/>
          </a:p>
        </p:txBody>
      </p:sp>
      <p:pic>
        <p:nvPicPr>
          <p:cNvPr id="13" name="Image 0" descr="/mnt/data/rolling_avg_vs_act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770144"/>
            <a:ext cx="4160520" cy="158035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06640" y="4087368"/>
            <a:ext cx="4160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Aktualny koszt vs średnia krocząca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7086600" y="452628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EAF2FF"/>
                </a:solidFill>
              </a:rPr>
              <a:t>Autor: Maksim Ivanouski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AF2FF"/>
                </a:solidFill>
              </a:rPr>
              <a:t>Przedmiot: Uczenie maszynowe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EAF2FF"/>
                </a:solidFill>
              </a:rPr>
              <a:t>Data: Czerwiec 2026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7086600" y="51937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9FB0C4"/>
                </a:solidFill>
              </a:rPr>
              <a:t>Dane: syntetyczne, bez prywatnych billingów i bez kluczy cloud.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01/12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biznesowy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Nieoczekiwane wzrosty kosztów w AWS/Azure/GCP mogą szybko przełożyć się na realne straty.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pic>
        <p:nvPicPr>
          <p:cNvPr id="5" name="Image 0" descr="/mnt/data/cost_over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04246"/>
            <a:ext cx="6812280" cy="24014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5120640"/>
            <a:ext cx="6812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Koszt w czasie z zaznaczonymi anomaliami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781812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F"/>
                </a:solidFill>
              </a:rPr>
              <a:t>Źródła problemu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18120" y="1828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C8FF"/>
                </a:solidFill>
              </a:rPr>
              <a:t>● </a:t>
            </a:r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błędna konfiguracja zasobów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781812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C8FF"/>
                </a:solidFill>
              </a:rPr>
              <a:t>● </a:t>
            </a:r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zapomniane środowiska testowe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7818120" y="2651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C8FF"/>
                </a:solidFill>
              </a:rPr>
              <a:t>● </a:t>
            </a:r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skoki transferu danych lub logowania</a:t>
            </a:r>
            <a:endParaRPr lang="en-US" sz="1220" dirty="0"/>
          </a:p>
        </p:txBody>
      </p:sp>
      <p:sp>
        <p:nvSpPr>
          <p:cNvPr id="11" name="Text 8"/>
          <p:cNvSpPr/>
          <p:nvPr/>
        </p:nvSpPr>
        <p:spPr>
          <a:xfrm>
            <a:off x="781812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C8FF"/>
                </a:solidFill>
              </a:rPr>
              <a:t>● </a:t>
            </a:r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zduplikowane wdrożenia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7818120" y="3474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C8FF"/>
                </a:solidFill>
              </a:rPr>
              <a:t>● </a:t>
            </a:r>
            <a:pPr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ręczne monitorowanie nie skaluje się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7818120" y="42793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5555"/>
                </a:solidFill>
              </a:rPr>
              <a:t>Kluczowy błąd: False Negative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18120" y="46451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AF2FF"/>
                </a:solidFill>
              </a:rPr>
              <a:t>Model mówi „NORMAL”, ale firma traci pieniądze przez przeoczoną anomalię.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02/12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Zbiór danych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5 040 syntetycznych rekordów cloud billing, 20 kolumn raw, 36 kolumn po feature engineering.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pic>
        <p:nvPicPr>
          <p:cNvPr id="5" name="Image 0" descr="/mnt/data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51709"/>
            <a:ext cx="4937760" cy="35065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516636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Nierównowaga klas: 6,98% anomalii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6035040" y="13533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</a:rPr>
              <a:t>4 688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035040" y="16733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B0C4"/>
                </a:solidFill>
              </a:rPr>
              <a:t>normalne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360920" y="13533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5555"/>
                </a:solidFill>
              </a:rPr>
              <a:t>352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360920" y="16733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B0C4"/>
                </a:solidFill>
              </a:rPr>
              <a:t>anomalie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8686800" y="13533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4C8FF"/>
                </a:solidFill>
              </a:rPr>
              <a:t>3×4×7×3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686800" y="16733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B0C4"/>
                </a:solidFill>
              </a:rPr>
              <a:t>scope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0058400" y="13533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454"/>
                </a:solidFill>
              </a:rPr>
              <a:t>67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0058400" y="167335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B0C4"/>
                </a:solidFill>
              </a:rPr>
              <a:t>random seed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897880" y="2423160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Element             Wartość                                                 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------------------------------------------------------------------------------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Dostawcy            AWS · Azure · Google Cloud                              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Regiony             us-east-1 · eu-central-1 · eu-west-1 · us-west-2        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Usługi              EC2 · S3 · RDS · Lambda · CloudWatch · Data Transfer · Kub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Środowiska          production · staging · development                        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Typy anomalii       8 scenariuszy, m.in. compute spike i forgotten dev        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6035040" y="5394960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Ważne: `anomaly_type` służy tylko do analizy, nie jest cechą modelu.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03/12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Inżynieria cech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Model nie patrzy tylko na koszt, ale na kontekst kosztu.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C8FF"/>
                </a:solidFill>
              </a:rPr>
              <a:t>Cechy temporalne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18105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day_of_week · is_weekend · month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Pomagają odróżnić dni robocze od weekendów.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4173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C8FF"/>
                </a:solidFill>
              </a:rPr>
              <a:t>Cechy trendowe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0" y="181051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rolling_3/7_day_avg · cost ratio · change 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Pokazują odchylenie od historii kosztów.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454"/>
                </a:solidFill>
              </a:rPr>
              <a:t>Cechy efektywności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3649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cost_per_resource · cost_per_compute_hour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cost_per_gb_transfer · cost_per_1000_requests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9718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454"/>
                </a:solidFill>
              </a:rPr>
              <a:t>Wskaźniki pomocnicze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943600" y="33649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drogi development · wysoki transfer · wysoki compute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Czytelne sygnały do interpretacji predykcji.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1051560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00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Zasady bezpieczeństwa danych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52120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180" dirty="0">
                <a:solidFill>
                  <a:srgbClr val="EAF2FF"/>
                </a:solidFill>
              </a:rPr>
              <a:t>rolling features liczone tylko z przeszłości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868680" y="56235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180" dirty="0">
                <a:solidFill>
                  <a:srgbClr val="EAF2FF"/>
                </a:solidFill>
              </a:rPr>
              <a:t>`is_anomaly` i `anomaly_type` wykluczone z X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868680" y="6035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180" dirty="0">
                <a:solidFill>
                  <a:srgbClr val="EAF2FF"/>
                </a:solidFill>
              </a:rPr>
              <a:t>dzielenie bezpieczne: denominator + 1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6400800" y="4800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5555"/>
                </a:solidFill>
              </a:rPr>
              <a:t>Przykład logiki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0" y="523036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prod EC2: 420 USD przy avg 405 → normalne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dev EC2: 1200 USD przy avg 100 → anomalia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04/12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ML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Od generowania danych do predykcji nowego rekordu.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01952" y="2084832"/>
            <a:ext cx="109728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319272" y="2084832"/>
            <a:ext cx="109728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36592" y="2084832"/>
            <a:ext cx="109728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53912" y="2084832"/>
            <a:ext cx="109728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71232" y="2084832"/>
            <a:ext cx="109728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88552" y="2084832"/>
            <a:ext cx="109728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405872" y="2084832"/>
            <a:ext cx="109728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4360" y="1828800"/>
            <a:ext cx="13075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F2FF"/>
                </a:solidFill>
              </a:rPr>
              <a:t>Generowanie danych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0" y="1828800"/>
            <a:ext cx="13075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F2FF"/>
                </a:solidFill>
              </a:rPr>
              <a:t>Walidacja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29000" y="1828800"/>
            <a:ext cx="13075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F2FF"/>
                </a:solidFill>
              </a:rPr>
              <a:t>Feature engineering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3075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4C8FF"/>
                </a:solidFill>
              </a:rPr>
              <a:t>Preprocessing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263640" y="1828800"/>
            <a:ext cx="13075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F2FF"/>
                </a:solidFill>
              </a:rPr>
              <a:t>Train/Test 80/20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680960" y="1828800"/>
            <a:ext cx="13075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F2FF"/>
                </a:solidFill>
              </a:rPr>
              <a:t>Modele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098280" y="1828800"/>
            <a:ext cx="13075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F2FF"/>
                </a:solidFill>
              </a:rPr>
              <a:t>Ewaluacja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515600" y="1828800"/>
            <a:ext cx="130759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AF2FF"/>
                </a:solidFill>
              </a:rPr>
              <a:t>Predykcja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1520" y="2788920"/>
            <a:ext cx="106984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3375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RobustScaler: odporny na outliery i skoki kosztów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749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OneHotEncoder(handle_unknown="ignore"): bez fałszywej kolejności kategorii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16052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GridSearchCV: cv=4, scoring=f1 dla Lasu Losowego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572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Test set używany tylko do finalnej ewaluacji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05/12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Cztery podejścia: punkt odniesienia, modele nadzorowane i anomaly detection bez etykiet.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B0C4"/>
                </a:solidFill>
              </a:rPr>
              <a:t>Baseline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Zawsze przewiduje klasę większościową. Pokazuje, że wysoka accuracy może nic nie znaczyć.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C8FF"/>
                </a:solidFill>
              </a:rPr>
              <a:t>Regresja logistyczna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Model nadzorowany. Prosty, liniowy, z `class_weight="balanced"`. Bardzo wysoki recall.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Las losowy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Model nadzorowany. Zespół drzew + GridSearchCV. Najlepszy balans precision/recall.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3154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454"/>
                </a:solidFill>
              </a:rPr>
              <a:t>Las izolacyjny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356616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Model nienadzorowany. Nie zna etykiet `is_anomaly`, szuka statystycznie nietypowych obserwacji.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74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C8FF"/>
                </a:solidFill>
              </a:rPr>
              <a:t>Najważniejsza różnica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4864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Regresja logistyczna i Las losowy uczą się z etykiet. Las izolacyjny nie zna etykiet, dlatego może wykrywać mniej anomalii, ale jest użyteczny, gdy firma nie ma oznaczonych danych historycznych.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06/12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Wyniki testowe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1008 rekordów testowych, 70 anomalii, anomaly rate 6,94%.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pic>
        <p:nvPicPr>
          <p:cNvPr id="5" name="Image 0" descr="/mnt/data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423" y="1234440"/>
            <a:ext cx="4679713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04164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F1-score i recall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6537960" y="13258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4C8FF"/>
                </a:solidFill>
              </a:rPr>
              <a:t>Najważniejsze metryki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37960" y="1810512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Baseline: F1 0,0000 · Recall 0,0000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Regresja logistyczna: F1 0,8516 · Recall 0,9429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Las losowy: F1 0,8857 · Recall 0,8857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dirty="0">
                <a:solidFill>
                  <a:srgbClr val="EAF2FF"/>
                </a:solidFill>
              </a:rPr>
              <a:t>Las izolacyjny: F1 0,5556 · Recall 0,5714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6537960" y="34290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</a:rPr>
              <a:t>Finalny model: Las losowy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37960" y="38404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EAF2FF"/>
                </a:solidFill>
              </a:rPr>
              <a:t>Accuracy 0,9841 · Precision 0,8857 · Recall 0,8857 · F1 0,8857 · ROC-AUC 0,9863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868680" y="48920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454"/>
                </a:solidFill>
              </a:rPr>
              <a:t>Threshold tuning RF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52852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Próg 0,5: F1 0,8857 · Recall 0,8857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Próg 0,3: F1 0,8387 · Recall 0,9286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37960" y="48920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5555"/>
                </a:solidFill>
              </a:rPr>
              <a:t>Accuracy nie wystarczy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37960" y="52852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Baseline ma 93% accuracy, ale 0% recall — nie wykrywa żadnej anomalii.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07/12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Wizualizacja wyników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Błędy i separacja klas w modelach nadzorowanych.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pic>
        <p:nvPicPr>
          <p:cNvPr id="5" name="Image 0" descr="/mnt/data/confusion_matrix_random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805" y="1234440"/>
            <a:ext cx="471459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230368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Las losowy: 930 TN, 62 TP, 8 FP, 8 FN</a:t>
            </a:r>
            <a:endParaRPr lang="en-US" sz="720" dirty="0"/>
          </a:p>
        </p:txBody>
      </p:sp>
      <p:pic>
        <p:nvPicPr>
          <p:cNvPr id="7" name="Image 1" descr="/mnt/data/roc_curve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05" y="1234440"/>
            <a:ext cx="4554110" cy="3977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89320" y="523036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ROC-AUC: LR 0,973 · RF 0,986</a:t>
            </a:r>
            <a:endParaRPr lang="en-US" sz="720" dirty="0"/>
          </a:p>
        </p:txBody>
      </p:sp>
      <p:sp>
        <p:nvSpPr>
          <p:cNvPr id="9" name="Text 5"/>
          <p:cNvSpPr/>
          <p:nvPr/>
        </p:nvSpPr>
        <p:spPr>
          <a:xfrm>
            <a:off x="914400" y="56235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EAF2FF"/>
                </a:solidFill>
              </a:rPr>
              <a:t>FP = fałszywy alarm. FN = przeoczona anomalia. W cloud cost monitoring FN zwykle jest groźniejszy.</a:t>
            </a:r>
            <a:endParaRPr lang="en-US" sz="1080" dirty="0"/>
          </a:p>
        </p:txBody>
      </p:sp>
      <p:sp>
        <p:nvSpPr>
          <p:cNvPr id="10" name="Text 6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08/12</a:t>
            </a:r>
            <a:endParaRPr lang="en-US" sz="720" dirty="0"/>
          </a:p>
        </p:txBody>
      </p:sp>
      <p:sp>
        <p:nvSpPr>
          <p:cNvPr id="11" name="Text 7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Interpretowalność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Najważniejsze cechy pokazują, że model pracuje na odchyleniu od wzorca.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pic>
        <p:nvPicPr>
          <p:cNvPr id="5" name="Image 0" descr="/mnt/data/feature_importance_random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41" y="1188720"/>
            <a:ext cx="593697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5779008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Top 15 feature importance — Random Forest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7315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4C8FF"/>
                </a:solidFill>
              </a:rPr>
              <a:t>Najsilniejsze sygnały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45236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cost_to_rolling_7_day_ratio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5236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cost_to_rolling_3_day_ratio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452360" y="2697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cost_change_percent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5236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cost_difference_from_previous_day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452360" y="3520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cost_per_storage_gb / resource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15200" y="45262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2FF"/>
                </a:solidFill>
              </a:rPr>
              <a:t>Wniosek: nie chodzi o samą wartość kosztu, ale o relację do historii, środowiska i usługi.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09/12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Demo: `src/predict.py`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Praktyczne użycie zapisanego pipeline’u na dwóch rekordach.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CC71"/>
                </a:solidFill>
              </a:rPr>
              <a:t>Przykład 1: NORMAL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8463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Provider: AWS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 EC2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 production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$420.00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7-day avg: $405.00</a:t>
            </a:r>
            <a:endParaRPr lang="en-US" sz="1130" dirty="0"/>
          </a:p>
          <a:p>
            <a:pPr indent="0" marL="0">
              <a:buNone/>
            </a:pP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Prediction: NORMAL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 probability: 100.0%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suspicious indicators detected.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5555"/>
                </a:solidFill>
              </a:rPr>
              <a:t>Przykład 2: ANOMALIA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0" y="1783080"/>
            <a:ext cx="4846320" cy="2926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Provider: AWS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Service: EC2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 development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Cost: $1,200.00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7-day avg: $100.00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Prediction: ANOMALY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 probability: 95.0%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EA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Indicators: 12× avg, expensive dev, high compute, high transfer, high resources.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914400" y="553212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</a:rPr>
              <a:t>„Predicted probability” w Random Forest oznacza udział drzew głosujących na klasę, nie absolutną pewność biznesową.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10/12</a:t>
            </a:r>
            <a:endParaRPr lang="en-US" sz="720" dirty="0"/>
          </a:p>
        </p:txBody>
      </p:sp>
      <p:sp>
        <p:nvSpPr>
          <p:cNvPr id="11" name="Text 9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Koncepcja architektury chmurowej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Projekt działa lokalnie; slajd pokazuje docelową logikę w firmie.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840" y="2468880"/>
            <a:ext cx="210312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703320" y="2468880"/>
            <a:ext cx="210312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257800" y="2468880"/>
            <a:ext cx="210312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12280" y="2468880"/>
            <a:ext cx="210312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366760" y="2468880"/>
            <a:ext cx="210312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921240" y="2468880"/>
            <a:ext cx="210312" cy="0"/>
          </a:xfrm>
          <a:prstGeom prst="line">
            <a:avLst/>
          </a:prstGeom>
          <a:noFill/>
          <a:ln w="15240">
            <a:solidFill>
              <a:srgbClr val="24C8FF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22960" y="2240280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2FF"/>
                </a:solidFill>
              </a:rPr>
              <a:t>Eksport danych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2377440" y="2240280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2FF"/>
                </a:solidFill>
              </a:rPr>
              <a:t>Object Storage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3931920" y="2240280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2FF"/>
                </a:solidFill>
              </a:rPr>
              <a:t>Scheduled Job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5486400" y="2240280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24C8FF"/>
                </a:solidFill>
              </a:rPr>
              <a:t>ML Pipeline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7040880" y="2240280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2FF"/>
                </a:solidFill>
              </a:rPr>
              <a:t>Model Artifact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8595360" y="2240280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2FF"/>
                </a:solidFill>
              </a:rPr>
              <a:t>Dashboard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10149840" y="2240280"/>
            <a:ext cx="1325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EAF2FF"/>
                </a:solidFill>
              </a:rPr>
              <a:t>Alerting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005840" y="13258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2FF"/>
                </a:solidFill>
              </a:rPr>
              <a:t>Billing z AWS/Azure/GCP → przechowywanie → cykliczny scoring → dashboard → alert do FinOps/DevOps.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1680" y="406908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brak realnych kluczy cloud w projekcie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448056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brak prywatnych danych billingowych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0" y="48920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możliwość późniejszej integracji z API billingowym i alertami Slack/email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11/12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Wnioski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58952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FB0C4"/>
                </a:solidFill>
              </a:rPr>
              <a:t>Najważniejsze rezultaty i możliwe rozszerzenia.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8890">
            <a:solidFill>
              <a:srgbClr val="4152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2588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ML skutecznie wspiera wykrywanie nietypowych kosztów chmury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C8FF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Las losowy: najlepszy balans F1, precision i recall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B454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Najważniejsze są trendy i kontekst, nie sam koszt w USD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25555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Accuracy jest myląca przy 7% anomalii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FB0C4"/>
                </a:solidFill>
              </a:rPr>
              <a:t>● </a:t>
            </a:r>
            <a:pPr indent="0" marL="0">
              <a:buNone/>
            </a:pPr>
            <a:r>
              <a:rPr lang="en-US" sz="1300" dirty="0">
                <a:solidFill>
                  <a:srgbClr val="EAF2FF"/>
                </a:solidFill>
              </a:rPr>
              <a:t>Isolation Forest słabszy, ale przydatny bez etykiet historycznych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C8FF"/>
                </a:solidFill>
              </a:rPr>
              <a:t>Możliwe rozszerzenia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14400" y="486460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2FF"/>
                </a:solidFill>
              </a:rPr>
              <a:t>real-time billing API · alerty Slack/email · modele szeregów czasowych · klasyfikacja typów anomalii · MLflow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715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F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Dziękujemy za uwagę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Cloud Cost Anomaly Detection · 12/12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754380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9FB0C4"/>
                </a:solidFill>
              </a:rPr>
              <a:t>Źródło: GitHub + lokalne uruchomienia projektu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Wykrywanie anomalii w kosztach chmury z wykorzystaniem ML</dc:title>
  <dc:subject>Cloud Cost Anomaly Detection</dc:subject>
  <dc:creator>OpenAI</dc:creator>
  <cp:lastModifiedBy>OpenAI</cp:lastModifiedBy>
  <cp:revision>1</cp:revision>
  <dcterms:created xsi:type="dcterms:W3CDTF">2026-06-15T21:32:42Z</dcterms:created>
  <dcterms:modified xsi:type="dcterms:W3CDTF">2026-06-15T21:32:42Z</dcterms:modified>
</cp:coreProperties>
</file>